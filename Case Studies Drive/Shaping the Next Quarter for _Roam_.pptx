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6A8055-5F17-4A1C-BF33-D6D98561CF11}">
  <a:tblStyle styleId="{D76A8055-5F17-4A1C-BF33-D6D98561CF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0ac1e09c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0ac1e09c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0ac1e09cc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0ac1e09cc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0ac1e09cc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0ac1e09cc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0ac1e09cc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0ac1e09cc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0ac1e09cc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0ac1e09cc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0ac1e09cc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0ac1e09cc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0ac1e09cc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0ac1e09cc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0ac1e09cc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0ac1e09cc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0ac1e09cc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0ac1e09cc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0ac1e09cc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0ac1e09cc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0ac1e09cc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70ac1e09cc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0ac1e09cc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0ac1e09cc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ac1e09cc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0ac1e09cc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0ac1e09cc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0ac1e09cc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1064825"/>
            <a:ext cx="8763600" cy="12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Shaping the Next Quarter for "Roam"</a:t>
            </a:r>
            <a:endParaRPr b="1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228925" y="25717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Belal Bahr</a:t>
            </a:r>
            <a:endParaRPr b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 Statement</a:t>
            </a:r>
            <a:endParaRPr b="1"/>
          </a:p>
        </p:txBody>
      </p:sp>
      <p:sp>
        <p:nvSpPr>
          <p:cNvPr id="71" name="Google Shape;71;p14"/>
          <p:cNvSpPr txBox="1"/>
          <p:nvPr/>
        </p:nvSpPr>
        <p:spPr>
          <a:xfrm>
            <a:off x="161575" y="1319525"/>
            <a:ext cx="8982300" cy="3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Roam, a rapidly expanding online marketplace for vacation rentals, are faced with multiple high-priority initiatives from the management team. </a:t>
            </a:r>
            <a:br>
              <a:rPr lang="en" sz="1700">
                <a:solidFill>
                  <a:schemeClr val="dk1"/>
                </a:solidFill>
              </a:rPr>
            </a:b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However, due to limited development resources, </a:t>
            </a:r>
            <a:r>
              <a:rPr lang="en" sz="1700">
                <a:solidFill>
                  <a:schemeClr val="dk1"/>
                </a:solidFill>
              </a:rPr>
              <a:t>these competing initiatives</a:t>
            </a:r>
            <a:r>
              <a:rPr lang="en" sz="1700">
                <a:solidFill>
                  <a:schemeClr val="dk1"/>
                </a:solidFill>
              </a:rPr>
              <a:t> must be strategically evaluated and prioritized to determine which one or two to focus on in the upcoming quarter, ensuring maximum value obtained and alignment with company goals.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The following are the proposed </a:t>
            </a:r>
            <a:r>
              <a:rPr lang="en" sz="1700">
                <a:solidFill>
                  <a:schemeClr val="dk1"/>
                </a:solidFill>
              </a:rPr>
              <a:t>initiatives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Initiative A: AI-Powered Dynamic Pricing (Proposed by CEO)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Initiative B: Guest &amp; Host Referral Program </a:t>
            </a:r>
            <a:r>
              <a:rPr b="1" lang="en" sz="1500">
                <a:solidFill>
                  <a:schemeClr val="dk1"/>
                </a:solidFill>
              </a:rPr>
              <a:t>(Proposed by Head of Marketing)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Initiative C: Revamped Host Payout Dashboard </a:t>
            </a:r>
            <a:r>
              <a:rPr b="1" lang="en" sz="1500">
                <a:solidFill>
                  <a:schemeClr val="dk1"/>
                </a:solidFill>
              </a:rPr>
              <a:t>(Proposed by Head of Customer Support)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Initiative D: Address Critical Tech Debt </a:t>
            </a:r>
            <a:r>
              <a:rPr b="1" lang="en" sz="1500">
                <a:solidFill>
                  <a:schemeClr val="dk1"/>
                </a:solidFill>
              </a:rPr>
              <a:t>(Proposed by Lead Developer)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Proposals</a:t>
            </a:r>
            <a:endParaRPr b="1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505700"/>
            <a:ext cx="8832300" cy="32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Initiative A: "AI-Powered Dynamic Pricing"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(Proposed by the CEO)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Implement a model that automatically adjusts property prices based on seasonality, demand, and local events to maximize revenue for Hosts and Roam. High effort, high potential reward.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Initiative B: "Guest &amp; Host Referral Program"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(Proposed by the Head of Marketing)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Launch a "give-get" referral program to drive new user acquisition at a lower cost. Medium effort.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Initiative C: "Revamped Host Payout Dashboard"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(Proposed by the Head of Customer Support)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Overhaul the dashboard where Hosts view their earnings to reduce confusion and a high volume of support tickets. Medium effort, focused on retention and operational efficiency.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Initiative D: "Address Critical Tech Debt"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(Proposed by the Lead Developer)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Refactor the old payment processing system to improve stability, security, and the speed of future development. High effort, no immediate user-facing value.</a:t>
            </a:r>
            <a:endParaRPr b="1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Initiative A: AI-Powered Dynamic Pricing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3" name="Google Shape;83;p16"/>
          <p:cNvSpPr txBox="1"/>
          <p:nvPr>
            <p:ph idx="2" type="body"/>
          </p:nvPr>
        </p:nvSpPr>
        <p:spPr>
          <a:xfrm>
            <a:off x="161575" y="2483200"/>
            <a:ext cx="43224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Goal:</a:t>
            </a:r>
            <a:r>
              <a:rPr lang="en" sz="1500">
                <a:solidFill>
                  <a:schemeClr val="lt1"/>
                </a:solidFill>
              </a:rPr>
              <a:t> maximize revenue via automated, AI-based price adjustments.</a:t>
            </a:r>
            <a:br>
              <a:rPr lang="en" sz="1500">
                <a:solidFill>
                  <a:schemeClr val="lt1"/>
                </a:solidFill>
              </a:rPr>
            </a:b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lt1"/>
                </a:solidFill>
              </a:rPr>
            </a:br>
            <a:r>
              <a:rPr lang="en" sz="1500">
                <a:solidFill>
                  <a:schemeClr val="lt1"/>
                </a:solidFill>
              </a:rPr>
              <a:t>To measure the success of Initiative A, we need to approach this over several dimensions: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Current State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Feasibility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Impact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84" name="Google Shape;84;p16"/>
          <p:cNvSpPr txBox="1"/>
          <p:nvPr>
            <p:ph idx="4294967295" type="body"/>
          </p:nvPr>
        </p:nvSpPr>
        <p:spPr>
          <a:xfrm>
            <a:off x="4753025" y="700150"/>
            <a:ext cx="43224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1400">
                <a:solidFill>
                  <a:schemeClr val="dk1"/>
                </a:solidFill>
              </a:rPr>
              <a:t>Current State</a:t>
            </a:r>
            <a:r>
              <a:rPr b="1" lang="en" sz="1400">
                <a:solidFill>
                  <a:schemeClr val="dk1"/>
                </a:solidFill>
              </a:rPr>
              <a:t>: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1. </a:t>
            </a:r>
            <a:r>
              <a:rPr lang="en" sz="1400">
                <a:solidFill>
                  <a:schemeClr val="dk1"/>
                </a:solidFill>
              </a:rPr>
              <a:t>What are the current limitations or inefficiencies in the existing pricing strategy that this AI solution aims to solve?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1400">
                <a:solidFill>
                  <a:schemeClr val="dk1"/>
                </a:solidFill>
              </a:rPr>
              <a:t>Feasibility: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2. Do we have the </a:t>
            </a:r>
            <a:r>
              <a:rPr lang="en" sz="1400">
                <a:solidFill>
                  <a:schemeClr val="dk1"/>
                </a:solidFill>
              </a:rPr>
              <a:t>necessary data to build accurate pricing models </a:t>
            </a:r>
            <a:r>
              <a:rPr lang="en" sz="1400">
                <a:solidFill>
                  <a:schemeClr val="dk1"/>
                </a:solidFill>
              </a:rPr>
              <a:t>(demand, seasonality, local events)</a:t>
            </a:r>
            <a:r>
              <a:rPr lang="en" sz="1400">
                <a:solidFill>
                  <a:schemeClr val="dk1"/>
                </a:solidFill>
              </a:rPr>
              <a:t>? </a:t>
            </a: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3. Are there third-party pricing APIs we can use instead of building from scratch?</a:t>
            </a: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4. </a:t>
            </a:r>
            <a:r>
              <a:rPr lang="en" sz="1400">
                <a:solidFill>
                  <a:schemeClr val="dk1"/>
                </a:solidFill>
              </a:rPr>
              <a:t>What is the timeline and cost to build a reliable MVP?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1400">
                <a:solidFill>
                  <a:schemeClr val="dk1"/>
                </a:solidFill>
              </a:rPr>
              <a:t>Impact: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5</a:t>
            </a:r>
            <a:r>
              <a:rPr lang="en" sz="1400">
                <a:solidFill>
                  <a:schemeClr val="dk1"/>
                </a:solidFill>
              </a:rPr>
              <a:t>. </a:t>
            </a:r>
            <a:r>
              <a:rPr lang="en" sz="1400">
                <a:solidFill>
                  <a:schemeClr val="dk1"/>
                </a:solidFill>
              </a:rPr>
              <a:t>Can we pilot this on a small segment to test ROI before scaling?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Initiative B: Guest &amp; Host Referral Program</a:t>
            </a:r>
            <a:endParaRPr b="1"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242375" y="2423650"/>
            <a:ext cx="3500700" cy="27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Goal:</a:t>
            </a:r>
            <a:r>
              <a:rPr lang="en" sz="1500">
                <a:solidFill>
                  <a:schemeClr val="lt1"/>
                </a:solidFill>
              </a:rPr>
              <a:t> drive cost-effective user acquisition through referrals.</a:t>
            </a:r>
            <a:br>
              <a:rPr lang="en" sz="1500">
                <a:solidFill>
                  <a:schemeClr val="lt1"/>
                </a:solidFill>
              </a:rPr>
            </a:b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lt1"/>
                </a:solidFill>
              </a:rPr>
            </a:br>
            <a:r>
              <a:rPr lang="en" sz="1500">
                <a:solidFill>
                  <a:schemeClr val="lt1"/>
                </a:solidFill>
              </a:rPr>
              <a:t>To measure the success of Initiative B, we need to approach this over several dimensions: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Impact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Risks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Reach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91" name="Google Shape;91;p17"/>
          <p:cNvSpPr txBox="1"/>
          <p:nvPr>
            <p:ph idx="4294967295" type="body"/>
          </p:nvPr>
        </p:nvSpPr>
        <p:spPr>
          <a:xfrm>
            <a:off x="3931675" y="500925"/>
            <a:ext cx="5212200" cy="45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1400">
                <a:solidFill>
                  <a:schemeClr val="dk1"/>
                </a:solidFill>
              </a:rPr>
              <a:t>Impact</a:t>
            </a:r>
            <a:r>
              <a:rPr b="1" lang="en" sz="1400">
                <a:solidFill>
                  <a:schemeClr val="dk1"/>
                </a:solidFill>
              </a:rPr>
              <a:t>: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1. </a:t>
            </a:r>
            <a:r>
              <a:rPr lang="en" sz="1400">
                <a:solidFill>
                  <a:schemeClr val="dk1"/>
                </a:solidFill>
              </a:rPr>
              <a:t>What are the current and target metrics for acquisition and cost per acquisition (CPA)?</a:t>
            </a: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2. Do we have benchmarks from competitors or past campaigns to compare against?</a:t>
            </a: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3. What’s the average lifetime value (LTV) of a Guest or a Host and expected ROI?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1400">
                <a:solidFill>
                  <a:schemeClr val="dk1"/>
                </a:solidFill>
              </a:rPr>
              <a:t>Risks: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4</a:t>
            </a:r>
            <a:r>
              <a:rPr lang="en" sz="1400">
                <a:solidFill>
                  <a:schemeClr val="dk1"/>
                </a:solidFill>
              </a:rPr>
              <a:t>. </a:t>
            </a:r>
            <a:r>
              <a:rPr lang="en" sz="1400">
                <a:solidFill>
                  <a:schemeClr val="dk1"/>
                </a:solidFill>
              </a:rPr>
              <a:t>How will we prevent abuse or fraud in the referral system?</a:t>
            </a:r>
            <a:r>
              <a:rPr lang="en" sz="1400">
                <a:solidFill>
                  <a:schemeClr val="dk1"/>
                </a:solidFill>
              </a:rPr>
              <a:t> 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 sz="1400">
                <a:solidFill>
                  <a:schemeClr val="dk1"/>
                </a:solidFill>
              </a:rPr>
              <a:t>Reach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5</a:t>
            </a:r>
            <a:r>
              <a:rPr lang="en" sz="1400">
                <a:solidFill>
                  <a:schemeClr val="dk1"/>
                </a:solidFill>
              </a:rPr>
              <a:t>. What is the planned marketing strategy to launch and promote the referral program?</a:t>
            </a: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Initiative C: </a:t>
            </a:r>
            <a:r>
              <a:rPr b="1" lang="en"/>
              <a:t>Revamped Host Payout Dashboard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242375" y="2411400"/>
            <a:ext cx="3450900" cy="25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488">
                <a:solidFill>
                  <a:schemeClr val="lt1"/>
                </a:solidFill>
              </a:rPr>
              <a:t>Goal:</a:t>
            </a:r>
            <a:r>
              <a:rPr lang="en" sz="1488">
                <a:solidFill>
                  <a:schemeClr val="lt1"/>
                </a:solidFill>
              </a:rPr>
              <a:t> reduce support tickets and improve Host experience/retention.</a:t>
            </a:r>
            <a:endParaRPr sz="1488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88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488">
                <a:solidFill>
                  <a:schemeClr val="lt1"/>
                </a:solidFill>
              </a:rPr>
              <a:t>To measure the success of Initiative C, we need to approach this over several dimensions:</a:t>
            </a:r>
            <a:endParaRPr sz="1488">
              <a:solidFill>
                <a:schemeClr val="lt1"/>
              </a:solidFill>
            </a:endParaRPr>
          </a:p>
          <a:p>
            <a:pPr indent="-3230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88"/>
              <a:buChar char="●"/>
            </a:pPr>
            <a:r>
              <a:rPr lang="en" sz="1488">
                <a:solidFill>
                  <a:schemeClr val="lt1"/>
                </a:solidFill>
              </a:rPr>
              <a:t>Current State</a:t>
            </a:r>
            <a:endParaRPr sz="1488">
              <a:solidFill>
                <a:schemeClr val="lt1"/>
              </a:solidFill>
            </a:endParaRPr>
          </a:p>
          <a:p>
            <a:pPr indent="-3230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88"/>
              <a:buChar char="●"/>
            </a:pPr>
            <a:r>
              <a:rPr lang="en" sz="1488">
                <a:solidFill>
                  <a:schemeClr val="lt1"/>
                </a:solidFill>
              </a:rPr>
              <a:t>Scope and Feasibility</a:t>
            </a:r>
            <a:endParaRPr sz="1488">
              <a:solidFill>
                <a:schemeClr val="lt1"/>
              </a:solidFill>
            </a:endParaRPr>
          </a:p>
          <a:p>
            <a:pPr indent="-3230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88"/>
              <a:buChar char="●"/>
            </a:pPr>
            <a:r>
              <a:rPr lang="en" sz="1488">
                <a:solidFill>
                  <a:schemeClr val="lt1"/>
                </a:solidFill>
              </a:rPr>
              <a:t>Impact</a:t>
            </a:r>
            <a:endParaRPr sz="1488">
              <a:solidFill>
                <a:schemeClr val="lt1"/>
              </a:solidFill>
            </a:endParaRPr>
          </a:p>
        </p:txBody>
      </p:sp>
      <p:sp>
        <p:nvSpPr>
          <p:cNvPr id="98" name="Google Shape;98;p18"/>
          <p:cNvSpPr txBox="1"/>
          <p:nvPr>
            <p:ph idx="4294967295" type="body"/>
          </p:nvPr>
        </p:nvSpPr>
        <p:spPr>
          <a:xfrm>
            <a:off x="3810500" y="686700"/>
            <a:ext cx="5333400" cy="42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05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0"/>
              <a:buAutoNum type="alphaLcPeriod"/>
            </a:pPr>
            <a:r>
              <a:rPr b="1" lang="en" sz="1290">
                <a:solidFill>
                  <a:schemeClr val="dk1"/>
                </a:solidFill>
              </a:rPr>
              <a:t>Current State</a:t>
            </a:r>
            <a:r>
              <a:rPr b="1" lang="en" sz="1290">
                <a:solidFill>
                  <a:schemeClr val="dk1"/>
                </a:solidFill>
              </a:rPr>
              <a:t>:</a:t>
            </a:r>
            <a:br>
              <a:rPr b="1" lang="en" sz="1290">
                <a:solidFill>
                  <a:schemeClr val="dk1"/>
                </a:solidFill>
              </a:rPr>
            </a:br>
            <a:r>
              <a:rPr lang="en" sz="1290">
                <a:solidFill>
                  <a:schemeClr val="dk1"/>
                </a:solidFill>
              </a:rPr>
              <a:t>1. What is the current volume of support tickets related to payout confusion, and the average time and cost to resolve these tickets?</a:t>
            </a:r>
            <a:br>
              <a:rPr b="1" lang="en" sz="1290">
                <a:solidFill>
                  <a:schemeClr val="dk1"/>
                </a:solidFill>
              </a:rPr>
            </a:br>
            <a:endParaRPr b="1" sz="1290">
              <a:solidFill>
                <a:schemeClr val="dk1"/>
              </a:solidFill>
            </a:endParaRPr>
          </a:p>
          <a:p>
            <a:pPr indent="-3105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0"/>
              <a:buAutoNum type="alphaLcPeriod"/>
            </a:pPr>
            <a:r>
              <a:rPr b="1" lang="en" sz="1290">
                <a:solidFill>
                  <a:schemeClr val="dk1"/>
                </a:solidFill>
              </a:rPr>
              <a:t>Scope and Feasibility:</a:t>
            </a:r>
            <a:br>
              <a:rPr b="1" lang="en" sz="1290">
                <a:solidFill>
                  <a:schemeClr val="dk1"/>
                </a:solidFill>
              </a:rPr>
            </a:br>
            <a:r>
              <a:rPr lang="en" sz="1290">
                <a:solidFill>
                  <a:schemeClr val="dk1"/>
                </a:solidFill>
              </a:rPr>
              <a:t>2</a:t>
            </a:r>
            <a:r>
              <a:rPr lang="en" sz="1290">
                <a:solidFill>
                  <a:schemeClr val="dk1"/>
                </a:solidFill>
              </a:rPr>
              <a:t>. What are the most common specific issues Hosts encounter with the current payout dashboard?</a:t>
            </a:r>
            <a:br>
              <a:rPr lang="en" sz="1290">
                <a:solidFill>
                  <a:schemeClr val="dk1"/>
                </a:solidFill>
              </a:rPr>
            </a:br>
            <a:br>
              <a:rPr b="1" lang="en" sz="1290">
                <a:solidFill>
                  <a:schemeClr val="dk1"/>
                </a:solidFill>
              </a:rPr>
            </a:br>
            <a:r>
              <a:rPr lang="en" sz="1290">
                <a:solidFill>
                  <a:schemeClr val="dk1"/>
                </a:solidFill>
              </a:rPr>
              <a:t>3</a:t>
            </a:r>
            <a:r>
              <a:rPr lang="en" sz="1290">
                <a:solidFill>
                  <a:schemeClr val="dk1"/>
                </a:solidFill>
              </a:rPr>
              <a:t>. </a:t>
            </a:r>
            <a:r>
              <a:rPr lang="en" sz="1290">
                <a:solidFill>
                  <a:schemeClr val="dk1"/>
                </a:solidFill>
              </a:rPr>
              <a:t>Are there any immediate "quick wins" for the </a:t>
            </a:r>
            <a:r>
              <a:rPr lang="en" sz="1290">
                <a:solidFill>
                  <a:schemeClr val="dk1"/>
                </a:solidFill>
              </a:rPr>
              <a:t>dashboard</a:t>
            </a:r>
            <a:r>
              <a:rPr lang="en" sz="1290">
                <a:solidFill>
                  <a:schemeClr val="dk1"/>
                </a:solidFill>
              </a:rPr>
              <a:t> that could provide significant value with minimal effort?</a:t>
            </a:r>
            <a:r>
              <a:rPr lang="en" sz="1290">
                <a:solidFill>
                  <a:schemeClr val="dk1"/>
                </a:solidFill>
              </a:rPr>
              <a:t> </a:t>
            </a:r>
            <a:br>
              <a:rPr lang="en" sz="1290">
                <a:solidFill>
                  <a:schemeClr val="dk1"/>
                </a:solidFill>
              </a:rPr>
            </a:br>
            <a:br>
              <a:rPr lang="en" sz="1290">
                <a:solidFill>
                  <a:schemeClr val="dk1"/>
                </a:solidFill>
              </a:rPr>
            </a:br>
            <a:r>
              <a:rPr lang="en" sz="1290">
                <a:solidFill>
                  <a:schemeClr val="dk1"/>
                </a:solidFill>
              </a:rPr>
              <a:t>4. Are there dependencies or </a:t>
            </a:r>
            <a:r>
              <a:rPr lang="en" sz="1290">
                <a:solidFill>
                  <a:schemeClr val="dk1"/>
                </a:solidFill>
              </a:rPr>
              <a:t>technical</a:t>
            </a:r>
            <a:r>
              <a:rPr lang="en" sz="1290">
                <a:solidFill>
                  <a:schemeClr val="dk1"/>
                </a:solidFill>
              </a:rPr>
              <a:t> constraints that could delay delivery?</a:t>
            </a:r>
            <a:br>
              <a:rPr lang="en" sz="1290">
                <a:solidFill>
                  <a:schemeClr val="dk1"/>
                </a:solidFill>
              </a:rPr>
            </a:br>
            <a:endParaRPr sz="1290">
              <a:solidFill>
                <a:schemeClr val="dk1"/>
              </a:solidFill>
            </a:endParaRPr>
          </a:p>
          <a:p>
            <a:pPr indent="-3105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0"/>
              <a:buAutoNum type="alphaLcPeriod"/>
            </a:pPr>
            <a:r>
              <a:rPr b="1" lang="en" sz="1290">
                <a:solidFill>
                  <a:schemeClr val="dk1"/>
                </a:solidFill>
              </a:rPr>
              <a:t>Impact:</a:t>
            </a:r>
            <a:br>
              <a:rPr b="1" lang="en" sz="1290">
                <a:solidFill>
                  <a:schemeClr val="dk1"/>
                </a:solidFill>
              </a:rPr>
            </a:br>
            <a:r>
              <a:rPr lang="en" sz="1290">
                <a:solidFill>
                  <a:schemeClr val="dk1"/>
                </a:solidFill>
              </a:rPr>
              <a:t>5</a:t>
            </a:r>
            <a:r>
              <a:rPr lang="en" sz="1290">
                <a:solidFill>
                  <a:schemeClr val="dk1"/>
                </a:solidFill>
              </a:rPr>
              <a:t>. </a:t>
            </a:r>
            <a:r>
              <a:rPr lang="en" sz="1290">
                <a:solidFill>
                  <a:schemeClr val="dk1"/>
                </a:solidFill>
              </a:rPr>
              <a:t>What are the target metrics for success (e.g., reduction in payout-related support tickets, improvement in Host satisfaction scores, increase in Host retention), and how will be they tracked?</a:t>
            </a:r>
            <a:endParaRPr sz="12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b="1" sz="12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Initiative D: </a:t>
            </a:r>
            <a:r>
              <a:rPr b="1" lang="en"/>
              <a:t>Address Critical Tech Debt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25" y="2404125"/>
            <a:ext cx="3350700" cy="26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29">
                <a:solidFill>
                  <a:schemeClr val="lt1"/>
                </a:solidFill>
              </a:rPr>
              <a:t>Goal:</a:t>
            </a:r>
            <a:r>
              <a:rPr lang="en" sz="1629">
                <a:solidFill>
                  <a:schemeClr val="lt1"/>
                </a:solidFill>
              </a:rPr>
              <a:t> i</a:t>
            </a:r>
            <a:r>
              <a:rPr lang="en" sz="1629">
                <a:solidFill>
                  <a:schemeClr val="lt1"/>
                </a:solidFill>
              </a:rPr>
              <a:t>mprove system stability, security, and scalability.</a:t>
            </a:r>
            <a:endParaRPr sz="1629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29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29">
                <a:solidFill>
                  <a:schemeClr val="lt1"/>
                </a:solidFill>
              </a:rPr>
              <a:t>To measure the success of Initiative D, we need to approach this over several dimensions:</a:t>
            </a:r>
            <a:endParaRPr sz="1629">
              <a:solidFill>
                <a:schemeClr val="lt1"/>
              </a:solidFill>
            </a:endParaRPr>
          </a:p>
          <a:p>
            <a:pPr indent="-32428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1629">
                <a:solidFill>
                  <a:schemeClr val="lt1"/>
                </a:solidFill>
              </a:rPr>
              <a:t>Current State</a:t>
            </a:r>
            <a:endParaRPr sz="1629">
              <a:solidFill>
                <a:schemeClr val="lt1"/>
              </a:solidFill>
            </a:endParaRPr>
          </a:p>
          <a:p>
            <a:pPr indent="-3242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1629">
                <a:solidFill>
                  <a:schemeClr val="lt1"/>
                </a:solidFill>
              </a:rPr>
              <a:t>Scope and Approach</a:t>
            </a:r>
            <a:endParaRPr sz="1629">
              <a:solidFill>
                <a:schemeClr val="lt1"/>
              </a:solidFill>
            </a:endParaRPr>
          </a:p>
          <a:p>
            <a:pPr indent="-3242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1629">
                <a:solidFill>
                  <a:schemeClr val="lt1"/>
                </a:solidFill>
              </a:rPr>
              <a:t>Impact</a:t>
            </a:r>
            <a:endParaRPr sz="1629">
              <a:solidFill>
                <a:schemeClr val="lt1"/>
              </a:solidFill>
            </a:endParaRPr>
          </a:p>
        </p:txBody>
      </p:sp>
      <p:sp>
        <p:nvSpPr>
          <p:cNvPr id="105" name="Google Shape;105;p19"/>
          <p:cNvSpPr txBox="1"/>
          <p:nvPr>
            <p:ph idx="4294967295" type="body"/>
          </p:nvPr>
        </p:nvSpPr>
        <p:spPr>
          <a:xfrm>
            <a:off x="3729700" y="646300"/>
            <a:ext cx="5318400" cy="42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1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AutoNum type="alphaLcPeriod"/>
            </a:pPr>
            <a:r>
              <a:rPr b="1" lang="en" sz="1395">
                <a:solidFill>
                  <a:schemeClr val="dk1"/>
                </a:solidFill>
              </a:rPr>
              <a:t>Current State:</a:t>
            </a:r>
            <a:br>
              <a:rPr b="1" lang="en" sz="1395">
                <a:solidFill>
                  <a:schemeClr val="dk1"/>
                </a:solidFill>
              </a:rPr>
            </a:br>
            <a:r>
              <a:rPr lang="en" sz="1395">
                <a:solidFill>
                  <a:schemeClr val="dk1"/>
                </a:solidFill>
              </a:rPr>
              <a:t>1. </a:t>
            </a:r>
            <a:r>
              <a:rPr lang="en" sz="1395">
                <a:solidFill>
                  <a:schemeClr val="dk1"/>
                </a:solidFill>
              </a:rPr>
              <a:t>What is the current frequency and impact of incidents that have occurred due to the current system (downtime, failures, bugs, security vulnerabilities)?</a:t>
            </a:r>
            <a:br>
              <a:rPr lang="en" sz="1395">
                <a:solidFill>
                  <a:schemeClr val="dk1"/>
                </a:solidFill>
              </a:rPr>
            </a:br>
            <a:br>
              <a:rPr lang="en" sz="1395">
                <a:solidFill>
                  <a:schemeClr val="dk1"/>
                </a:solidFill>
              </a:rPr>
            </a:br>
            <a:r>
              <a:rPr lang="en" sz="1395">
                <a:solidFill>
                  <a:schemeClr val="dk1"/>
                </a:solidFill>
              </a:rPr>
              <a:t>2. How is this technical debt affecting current feature velocity or </a:t>
            </a:r>
            <a:r>
              <a:rPr lang="en" sz="1395">
                <a:solidFill>
                  <a:schemeClr val="dk1"/>
                </a:solidFill>
              </a:rPr>
              <a:t>development</a:t>
            </a:r>
            <a:r>
              <a:rPr lang="en" sz="1395">
                <a:solidFill>
                  <a:schemeClr val="dk1"/>
                </a:solidFill>
              </a:rPr>
              <a:t> efficiency?</a:t>
            </a:r>
            <a:br>
              <a:rPr b="1" lang="en" sz="1395">
                <a:solidFill>
                  <a:schemeClr val="dk1"/>
                </a:solidFill>
              </a:rPr>
            </a:br>
            <a:endParaRPr b="1" sz="1395"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AutoNum type="alphaLcPeriod"/>
            </a:pPr>
            <a:r>
              <a:rPr b="1" lang="en" sz="1395">
                <a:solidFill>
                  <a:schemeClr val="dk1"/>
                </a:solidFill>
              </a:rPr>
              <a:t>Scope and Approach:</a:t>
            </a:r>
            <a:br>
              <a:rPr b="1" lang="en" sz="1395">
                <a:solidFill>
                  <a:schemeClr val="dk1"/>
                </a:solidFill>
              </a:rPr>
            </a:br>
            <a:r>
              <a:rPr lang="en" sz="1395">
                <a:solidFill>
                  <a:schemeClr val="dk1"/>
                </a:solidFill>
              </a:rPr>
              <a:t>3</a:t>
            </a:r>
            <a:r>
              <a:rPr lang="en" sz="1395">
                <a:solidFill>
                  <a:schemeClr val="dk1"/>
                </a:solidFill>
              </a:rPr>
              <a:t>. </a:t>
            </a:r>
            <a:r>
              <a:rPr lang="en" sz="1395">
                <a:solidFill>
                  <a:schemeClr val="dk1"/>
                </a:solidFill>
              </a:rPr>
              <a:t>Can this be broken into smaller, lower-risk phases or parallelized, and what are the “Must-have” components of the refactor that address the most critical risks?</a:t>
            </a:r>
            <a:br>
              <a:rPr lang="en" sz="1395">
                <a:solidFill>
                  <a:schemeClr val="dk1"/>
                </a:solidFill>
              </a:rPr>
            </a:br>
            <a:endParaRPr sz="1395"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AutoNum type="alphaLcPeriod"/>
            </a:pPr>
            <a:r>
              <a:rPr b="1" lang="en" sz="1395">
                <a:solidFill>
                  <a:schemeClr val="dk1"/>
                </a:solidFill>
              </a:rPr>
              <a:t>Impact:</a:t>
            </a:r>
            <a:br>
              <a:rPr b="1" lang="en" sz="1395">
                <a:solidFill>
                  <a:schemeClr val="dk1"/>
                </a:solidFill>
              </a:rPr>
            </a:br>
            <a:r>
              <a:rPr lang="en" sz="1395">
                <a:solidFill>
                  <a:schemeClr val="dk1"/>
                </a:solidFill>
              </a:rPr>
              <a:t>4</a:t>
            </a:r>
            <a:r>
              <a:rPr lang="en" sz="1395">
                <a:solidFill>
                  <a:schemeClr val="dk1"/>
                </a:solidFill>
              </a:rPr>
              <a:t>. </a:t>
            </a:r>
            <a:r>
              <a:rPr lang="en" sz="1395">
                <a:solidFill>
                  <a:schemeClr val="dk1"/>
                </a:solidFill>
              </a:rPr>
              <a:t>How will the success of this initiative be measured (e.g., reduction in system downtime, improved security audit scores, increase in developer velocity metrics)?</a:t>
            </a:r>
            <a:br>
              <a:rPr lang="en" sz="1395">
                <a:solidFill>
                  <a:schemeClr val="dk1"/>
                </a:solidFill>
              </a:rPr>
            </a:br>
            <a:br>
              <a:rPr lang="en" sz="1395">
                <a:solidFill>
                  <a:schemeClr val="dk1"/>
                </a:solidFill>
              </a:rPr>
            </a:br>
            <a:r>
              <a:rPr lang="en" sz="1395">
                <a:solidFill>
                  <a:schemeClr val="dk1"/>
                </a:solidFill>
              </a:rPr>
              <a:t>5. What future work and innovation would addressing this debt unlock?</a:t>
            </a:r>
            <a:endParaRPr sz="13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b="1" sz="139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Prioritization</a:t>
            </a:r>
            <a:endParaRPr b="1"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134650" y="1505700"/>
            <a:ext cx="8886600" cy="3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Note: Answers to the </a:t>
            </a:r>
            <a:r>
              <a:rPr lang="en">
                <a:solidFill>
                  <a:schemeClr val="dk1"/>
                </a:solidFill>
              </a:rPr>
              <a:t>previous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questions might change the prioritization drastically. However, assumptions were made due to lack of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make an informed decision and ensure transparency across the organization, a </a:t>
            </a:r>
            <a:r>
              <a:rPr b="1" lang="en">
                <a:solidFill>
                  <a:schemeClr val="dk1"/>
                </a:solidFill>
              </a:rPr>
              <a:t>RICE</a:t>
            </a:r>
            <a:r>
              <a:rPr lang="en">
                <a:solidFill>
                  <a:schemeClr val="dk1"/>
                </a:solidFill>
              </a:rPr>
              <a:t> framework (Reach, Impact, Confidence, Effort) will be applied, combined with an assessment of strategic alignment and risk mitigation.</a:t>
            </a:r>
            <a:endParaRPr>
              <a:solidFill>
                <a:schemeClr val="dk1"/>
              </a:solidFill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Reach</a:t>
            </a:r>
            <a:r>
              <a:rPr lang="en">
                <a:solidFill>
                  <a:schemeClr val="dk1"/>
                </a:solidFill>
              </a:rPr>
              <a:t>: This measures how many Roam users (Guests or Hosts) or internal stakeholders an initiative will affect.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Scores will range from 1 (lowest reach) to 10 (highest reach).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Impact</a:t>
            </a:r>
            <a:r>
              <a:rPr lang="en">
                <a:solidFill>
                  <a:schemeClr val="dk1"/>
                </a:solidFill>
              </a:rPr>
              <a:t>: This assesses the potential positive effect on Roam's key business objectives, such as revenue, user acquisition, retention, operational efficiency, stability, or developer velocity.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This will be scored on the following scale: 1 for minimal impact to 3 for massive impact.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Confidence</a:t>
            </a:r>
            <a:r>
              <a:rPr lang="en">
                <a:solidFill>
                  <a:schemeClr val="dk1"/>
                </a:solidFill>
              </a:rPr>
              <a:t>: This quantifies the certainty in the estimates for Reach and Impact, as well as the feasibility of delivery.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Scores will range from 50% (low confidence) to 100% (high confidence).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Effort</a:t>
            </a:r>
            <a:r>
              <a:rPr lang="en">
                <a:solidFill>
                  <a:schemeClr val="dk1"/>
                </a:solidFill>
              </a:rPr>
              <a:t>: This is an estimate of the resources required for development and deployment, typically measured in person-months. This forms the denominator in the RICE score.  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4521400"/>
            <a:ext cx="81846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Chosen Initiatives for Next Quarter: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Guest &amp; Host Referral Program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Revamped Host Payout Dashboard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7" name="Google Shape;117;p21"/>
          <p:cNvGraphicFramePr/>
          <p:nvPr/>
        </p:nvGraphicFramePr>
        <p:xfrm>
          <a:off x="80900" y="21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{D76A8055-5F17-4A1C-BF33-D6D98561CF11}</a:tableStyleId>
              </a:tblPr>
              <a:tblGrid>
                <a:gridCol w="1286550"/>
                <a:gridCol w="1286550"/>
                <a:gridCol w="1596225"/>
                <a:gridCol w="1219225"/>
                <a:gridCol w="1165400"/>
                <a:gridCol w="1165350"/>
                <a:gridCol w="1286550"/>
              </a:tblGrid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Initiative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Estimated Reach</a:t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(1-10)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Expected Impact (1-3)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Confidence (0.5-1)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Estimated Effort (Person-Months)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Calculated RICE Score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Strategic Value/Risk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A: AI-Powered Dynamic Pricing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7.5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2.5 (High Revenue)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 (Medium)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1.88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High Potential, High Risk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B: Guest &amp; Host Referral Program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 (Medium Growth)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 (High)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3.73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Medium Growth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C: Revamped Host Payout Dashboard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 (Hosts only)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 (High Retention/Efficiency)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 (Very High)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Critical Host Retention, Operational Efficiency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D: Address Critical Tech Debt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4.5 (long-term indirect impact)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2.5 (Critical Stability/Velocity)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1.0 (Very High)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1.88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Critical Risk Mitigation, Long-term impact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505700"/>
            <a:ext cx="39567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Deprioritized:</a:t>
            </a:r>
            <a:endParaRPr b="1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>
                <a:solidFill>
                  <a:schemeClr val="dk1"/>
                </a:solidFill>
              </a:rPr>
              <a:t>Initiative A</a:t>
            </a:r>
            <a:r>
              <a:rPr lang="en">
                <a:solidFill>
                  <a:schemeClr val="dk1"/>
                </a:solidFill>
              </a:rPr>
              <a:t> presents a high revenue potential; </a:t>
            </a:r>
            <a:r>
              <a:rPr lang="en">
                <a:solidFill>
                  <a:schemeClr val="dk1"/>
                </a:solidFill>
              </a:rPr>
              <a:t>however,</a:t>
            </a:r>
            <a:r>
              <a:rPr lang="en">
                <a:solidFill>
                  <a:schemeClr val="dk1"/>
                </a:solidFill>
              </a:rPr>
              <a:t> its higher </a:t>
            </a:r>
            <a:r>
              <a:rPr lang="en">
                <a:solidFill>
                  <a:schemeClr val="dk1"/>
                </a:solidFill>
              </a:rPr>
              <a:t>effort</a:t>
            </a:r>
            <a:r>
              <a:rPr lang="en">
                <a:solidFill>
                  <a:schemeClr val="dk1"/>
                </a:solidFill>
              </a:rPr>
              <a:t> and lower confidence due to AI </a:t>
            </a:r>
            <a:r>
              <a:rPr lang="en">
                <a:solidFill>
                  <a:schemeClr val="dk1"/>
                </a:solidFill>
              </a:rPr>
              <a:t>complexity</a:t>
            </a:r>
            <a:r>
              <a:rPr lang="en">
                <a:solidFill>
                  <a:schemeClr val="dk1"/>
                </a:solidFill>
              </a:rPr>
              <a:t> and user acceptance risks make </a:t>
            </a:r>
            <a:r>
              <a:rPr lang="en">
                <a:solidFill>
                  <a:schemeClr val="dk1"/>
                </a:solidFill>
              </a:rPr>
              <a:t>it</a:t>
            </a:r>
            <a:r>
              <a:rPr lang="en">
                <a:solidFill>
                  <a:schemeClr val="dk1"/>
                </a:solidFill>
              </a:rPr>
              <a:t> not the best option for next quarter due to limited resources.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>
                <a:solidFill>
                  <a:schemeClr val="dk1"/>
                </a:solidFill>
              </a:rPr>
              <a:t>Initiative</a:t>
            </a:r>
            <a:r>
              <a:rPr b="1" lang="en">
                <a:solidFill>
                  <a:schemeClr val="dk1"/>
                </a:solidFill>
              </a:rPr>
              <a:t> D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lang="en">
                <a:solidFill>
                  <a:schemeClr val="dk1"/>
                </a:solidFill>
              </a:rPr>
              <a:t>crucial</a:t>
            </a:r>
            <a:r>
              <a:rPr lang="en">
                <a:solidFill>
                  <a:schemeClr val="dk1"/>
                </a:solidFill>
              </a:rPr>
              <a:t> for long-term but won’t directly move product KPIs or customer metrics in the next 3 months. Taking on this high-effort </a:t>
            </a:r>
            <a:r>
              <a:rPr lang="en">
                <a:solidFill>
                  <a:schemeClr val="dk1"/>
                </a:solidFill>
              </a:rPr>
              <a:t>initiative</a:t>
            </a:r>
            <a:r>
              <a:rPr lang="en">
                <a:solidFill>
                  <a:schemeClr val="dk1"/>
                </a:solidFill>
              </a:rPr>
              <a:t> would make us disregard other </a:t>
            </a:r>
            <a:r>
              <a:rPr lang="en">
                <a:solidFill>
                  <a:schemeClr val="dk1"/>
                </a:solidFill>
              </a:rPr>
              <a:t>initiatives</a:t>
            </a:r>
            <a:r>
              <a:rPr lang="en">
                <a:solidFill>
                  <a:schemeClr val="dk1"/>
                </a:solidFill>
              </a:rPr>
              <a:t> with immediate impact.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Justification</a:t>
            </a:r>
            <a:endParaRPr b="1"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4875625" y="1505700"/>
            <a:ext cx="40380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Prioritized:</a:t>
            </a:r>
            <a:endParaRPr b="1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>
                <a:solidFill>
                  <a:schemeClr val="dk1"/>
                </a:solidFill>
              </a:rPr>
              <a:t>Initiative B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provides a clear ROI potential and </a:t>
            </a:r>
            <a:r>
              <a:rPr lang="en">
                <a:solidFill>
                  <a:schemeClr val="dk1"/>
                </a:solidFill>
              </a:rPr>
              <a:t>is easier to </a:t>
            </a:r>
            <a:r>
              <a:rPr lang="en">
                <a:solidFill>
                  <a:schemeClr val="dk1"/>
                </a:solidFill>
              </a:rPr>
              <a:t>implement</a:t>
            </a:r>
            <a:r>
              <a:rPr lang="en">
                <a:solidFill>
                  <a:schemeClr val="dk1"/>
                </a:solidFill>
              </a:rPr>
              <a:t> compared to A &amp; D, yet can impact both Guest and Host growth. This would be a great advantage to boost Roam’s “fast-growing” nature and capture a bigger </a:t>
            </a:r>
            <a:r>
              <a:rPr lang="en">
                <a:solidFill>
                  <a:schemeClr val="dk1"/>
                </a:solidFill>
              </a:rPr>
              <a:t>chunk</a:t>
            </a:r>
            <a:r>
              <a:rPr lang="en">
                <a:solidFill>
                  <a:schemeClr val="dk1"/>
                </a:solidFill>
              </a:rPr>
              <a:t> of the market. 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>
                <a:solidFill>
                  <a:schemeClr val="dk1"/>
                </a:solidFill>
              </a:rPr>
              <a:t>Initiative C</a:t>
            </a:r>
            <a:r>
              <a:rPr lang="en">
                <a:solidFill>
                  <a:schemeClr val="dk1"/>
                </a:solidFill>
              </a:rPr>
              <a:t> resolves an </a:t>
            </a:r>
            <a:r>
              <a:rPr lang="en">
                <a:solidFill>
                  <a:schemeClr val="dk1"/>
                </a:solidFill>
              </a:rPr>
              <a:t>ongoing cost and a</a:t>
            </a:r>
            <a:r>
              <a:rPr lang="en">
                <a:solidFill>
                  <a:schemeClr val="dk1"/>
                </a:solidFill>
              </a:rPr>
              <a:t> critical pain point to Hosts thus improving </a:t>
            </a:r>
            <a:r>
              <a:rPr lang="en">
                <a:solidFill>
                  <a:schemeClr val="dk1"/>
                </a:solidFill>
              </a:rPr>
              <a:t>efficiency</a:t>
            </a:r>
            <a:r>
              <a:rPr lang="en">
                <a:solidFill>
                  <a:schemeClr val="dk1"/>
                </a:solidFill>
              </a:rPr>
              <a:t> and leading to </a:t>
            </a:r>
            <a:r>
              <a:rPr lang="en">
                <a:solidFill>
                  <a:schemeClr val="dk1"/>
                </a:solidFill>
              </a:rPr>
              <a:t>increased</a:t>
            </a:r>
            <a:r>
              <a:rPr lang="en">
                <a:solidFill>
                  <a:schemeClr val="dk1"/>
                </a:solidFill>
              </a:rPr>
              <a:t> host </a:t>
            </a:r>
            <a:r>
              <a:rPr lang="en">
                <a:solidFill>
                  <a:schemeClr val="dk1"/>
                </a:solidFill>
              </a:rPr>
              <a:t>satisfaction</a:t>
            </a:r>
            <a:r>
              <a:rPr lang="en">
                <a:solidFill>
                  <a:schemeClr val="dk1"/>
                </a:solidFill>
              </a:rPr>
              <a:t> and retention. Most likely to include quick-wins that lead to </a:t>
            </a:r>
            <a:r>
              <a:rPr lang="en">
                <a:solidFill>
                  <a:schemeClr val="dk1"/>
                </a:solidFill>
              </a:rPr>
              <a:t>tangible</a:t>
            </a:r>
            <a:r>
              <a:rPr lang="en">
                <a:solidFill>
                  <a:schemeClr val="dk1"/>
                </a:solidFill>
              </a:rPr>
              <a:t> results.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AI-Assisted Execution</a:t>
            </a:r>
            <a:endParaRPr b="1"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572100" y="1602300"/>
            <a:ext cx="3999900" cy="26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LLM Used: </a:t>
            </a:r>
            <a:r>
              <a:rPr b="1" lang="en" sz="1800">
                <a:solidFill>
                  <a:schemeClr val="dk1"/>
                </a:solidFill>
              </a:rPr>
              <a:t>Claude</a:t>
            </a:r>
            <a:r>
              <a:rPr b="1" lang="en" sz="1800">
                <a:solidFill>
                  <a:schemeClr val="dk1"/>
                </a:solidFill>
              </a:rPr>
              <a:t> Sonnet 4</a:t>
            </a:r>
            <a:br>
              <a:rPr lang="en" sz="1800">
                <a:solidFill>
                  <a:schemeClr val="dk1"/>
                </a:solidFill>
              </a:rPr>
            </a:br>
            <a:br>
              <a:rPr lang="en" sz="1800">
                <a:solidFill>
                  <a:schemeClr val="dk1"/>
                </a:solidFill>
              </a:rPr>
            </a:br>
            <a:br>
              <a:rPr lang="en" sz="1800">
                <a:solidFill>
                  <a:schemeClr val="dk1"/>
                </a:solidFill>
              </a:rPr>
            </a:b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Prompt Used: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83125"/>
            <a:ext cx="1392625" cy="93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3000" y="2841750"/>
            <a:ext cx="61531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AI Assisted Epic</a:t>
            </a:r>
            <a:endParaRPr b="1"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230925" y="1586475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AI </a:t>
            </a:r>
            <a:r>
              <a:rPr b="1" lang="en">
                <a:solidFill>
                  <a:schemeClr val="accent1"/>
                </a:solidFill>
              </a:rPr>
              <a:t>Generated Epic: 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As a property host on our vacation rental marketplace, I need a comprehensive and intuitive payout dashboard that clearly displays my earnings, payment schedules, and transaction details, so that I can easily understand my financial performance, track expected payments, and resolve payout-related questions without contacting support.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Revised Epic: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As a Roam Host, </a:t>
            </a:r>
            <a:r>
              <a:rPr lang="en">
                <a:solidFill>
                  <a:schemeClr val="accent1"/>
                </a:solidFill>
              </a:rPr>
              <a:t>I need a comprehensive and intuitive payout dashboard so that I can easily understand my financial performance and track my earnings, deductions, and payment schedules without the need to contact support.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idx="4294967295" type="body"/>
          </p:nvPr>
        </p:nvSpPr>
        <p:spPr>
          <a:xfrm>
            <a:off x="0" y="107725"/>
            <a:ext cx="3702900" cy="50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Generated User Story 1: Real-Time Earnings Overview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a host, I want to see my current earnings status at a glance when I visit the payout dashboard, so that I can quickly understand my financial position without digging through multiple screens.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Acceptance Criteria: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Dashboard loads within 3 seconds and displays current total earnings, pending payouts, and next payment date prominently in the hero section.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Earnings summary shows: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 earnings for current month (with comparison to previous month)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Amount currently pending payout (with scheduled release date)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Next scheduled payout amount and date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Year-to-date earnings total</a:t>
            </a:r>
            <a:b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 indicators clearly distinguish between confirmed earnings, pending earnings, and already-paid amounts using distinct colors and icons.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Currency is displayed correctly based on the host's account settings, with appropriate formatting (e.g., $1,234.56, €1.234,56).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Error states are handled gracefully - if data fails to load, show a clear error message with retry option and estimated resolution time.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25"/>
          <p:cNvSpPr txBox="1"/>
          <p:nvPr>
            <p:ph idx="4294967295" type="body"/>
          </p:nvPr>
        </p:nvSpPr>
        <p:spPr>
          <a:xfrm>
            <a:off x="3958225" y="107725"/>
            <a:ext cx="4896900" cy="50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Reviewed </a:t>
            </a: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User Story 1: Real-Time Earnings Overview</a:t>
            </a:r>
            <a:endParaRPr b="1"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As a host, I want to see a clear overview of my current earnings for a selected 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at a glance when I visit the payout dashboard, so that I can quickly understand my financial position.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Acceptance Criteria:</a:t>
            </a:r>
            <a:endParaRPr b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Dashboard loads within 3 seconds for periods up to one year.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The dashboard displays total gross earnings, total deductions (Roam fees, taxes), 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net payout for the selected period. The selected period can be easily changed via a date range selector (monthly, 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quarterly, yearly, 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dropdown for preset periods, custom date picker). The dashboard</a:t>
            </a: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also includes next scheduled payout amount and date. 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Visual indicators clearly distinguish between confirmed earnings, pending earnings, and already-paid amounts using distinct colors and icons.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Currency is displayed correctly based on the host's account settings, with appropriate formatting (e.g., $1,234.56, €1.234,56).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Note: 5 was removed as this should be a standard acceptance criteria for the epic.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idx="4294967295" type="body"/>
          </p:nvPr>
        </p:nvSpPr>
        <p:spPr>
          <a:xfrm>
            <a:off x="0" y="107725"/>
            <a:ext cx="3702900" cy="50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Generated </a:t>
            </a: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 Story 2: Detailed Transaction History and Filtering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a host, I want to view and filter my detailed transaction history, so that I can track specific bookings, understand fee breakdowns, and reconcile my records with platform payments.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Acceptance Criteria: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Transaction table displays booking reference, guest name (anonymized as needed), property name, check-in date, gross amount, platform fees, net payout, and payment status for each transaction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Filtering options include: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 range picker (with presets for last 30 days, 3 months, 6 months, year)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Property selection (for multi-property hosts)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Payment status (pending, processing, completed, cancelled)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Transaction type (booking, adjustment, refund, bonus)</a:t>
            </a:r>
            <a:b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Search functionality allows hosts to find transactions by booking reference number or guest name.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Export capability enables downloading filtered results as CSV or PDF with all visible columns included.</a:t>
            </a:r>
            <a:b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Pagination handles large datasets efficiently, showing 25 transactions per page with clear navigation controls and total count display.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 txBox="1"/>
          <p:nvPr>
            <p:ph idx="4294967295" type="body"/>
          </p:nvPr>
        </p:nvSpPr>
        <p:spPr>
          <a:xfrm>
            <a:off x="3958225" y="107725"/>
            <a:ext cx="4896900" cy="50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Reviewed </a:t>
            </a: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User Story 2: Detailed Transaction History</a:t>
            </a:r>
            <a:endParaRPr b="1"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As a host, I want to view and filter a detailed transaction history contributing to my payouts, so that I can track specific bookings, understand fee breakdowns, and reconcile my records.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Acceptance Criteria:</a:t>
            </a:r>
            <a:endParaRPr b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Transaction table displays booking reference, guest name (or anonymized ID), property name, check-in/out date, gross amount, Roam fees, taxes, net payout, and payment status for each transaction.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Filtering options include: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Date range picker (with presets for last 30 days, 3 months, 6 months, year)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Property selection (for multi-property hosts)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Booking status (checked-out, cancelled)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Payment status (pending, processing, completed, cancelled)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Transaction type (booking, adjustment, refund, bonus)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Search functionality allows hosts to find transactions by booking reference number or guest name.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Export capability enables downloading filtered/unfiltered results as CSV or PDF with all visible columns included.</a:t>
            </a:r>
            <a:b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Pagination handles large datasets efficiently, showing 25, 50, or 100 transactions per page (as per the host’s preference) with clear navigation controls and total count display.</a:t>
            </a:r>
            <a:endParaRPr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idx="4294967295" type="body"/>
          </p:nvPr>
        </p:nvSpPr>
        <p:spPr>
          <a:xfrm>
            <a:off x="0" y="25"/>
            <a:ext cx="3810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2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Generated</a:t>
            </a: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 Story 3: Payment Schedule and Status Transparency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6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a host, I want to understand exactly when and how much I'll be paid for my bookings, so that I can plan my cash flow and know what to expect without uncertainty.</a:t>
            </a:r>
            <a:endParaRPr sz="126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2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Acceptance Criteria:</a:t>
            </a:r>
            <a:endParaRPr b="1" sz="142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Payment schedule section shows:</a:t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upcoming payouts for the next 60 days with exact dates and amounts</a:t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Clear explanation of payout timing rules (e.g., "Payments released 24 hours after guest check-in")</a:t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Any holds or delays with specific reasons and expected resolution dates</a:t>
            </a:r>
            <a:b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Payment status indicators use clear, consistent language:</a:t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"Confirmed" (guest checked in, funds secured)</a:t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"Processing" (payment being prepared, expected completion date shown)</a:t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"On Hold" (issue detected, with specific reason and resolution steps)</a:t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"Completed" (funds transferred to host account)</a:t>
            </a:r>
            <a:b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Interactive calendar view displays payout dates as events, allowing hosts to click for details about specific payments.</a:t>
            </a:r>
            <a:b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Notification preferences allow hosts to opt-in for email/SMS alerts for payment status changes.</a:t>
            </a:r>
            <a:b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Payment method display shows the last 4 digits of the bank account or payment method where funds will be sent, with link to update if needed.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 txBox="1"/>
          <p:nvPr>
            <p:ph idx="4294967295" type="body"/>
          </p:nvPr>
        </p:nvSpPr>
        <p:spPr>
          <a:xfrm>
            <a:off x="3958225" y="107725"/>
            <a:ext cx="4896900" cy="50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Reviewed</a:t>
            </a: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User Story 3: Payment Status and History</a:t>
            </a:r>
            <a:endParaRPr b="1" sz="17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6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As a host, I want to easily track the status and details of my upcoming and past payouts, so that I can plan my cash flow and verify successful transfers.</a:t>
            </a:r>
            <a:endParaRPr sz="126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29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Acceptance Criteria:</a:t>
            </a:r>
            <a:endParaRPr b="1" sz="1429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Payment schedule section shows:</a:t>
            </a: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All upcoming payouts for the next 60 days with exact dates and amounts</a:t>
            </a: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Clear explanation of payout timing rules (e.g., "Payments released 24 hours after guest check-in")</a:t>
            </a: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Any holds or delays with specific reasons and expected resolution dates</a:t>
            </a:r>
            <a:b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Payment status indicators use clear, consistent language:</a:t>
            </a: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"Confirmed" (guest checked in, funds secured)</a:t>
            </a: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"Processing" (payment being prepared, expected completion date shown)</a:t>
            </a: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"On Hold" (issue detected, with specific reason and resolution steps)</a:t>
            </a: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○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"Completed" (funds transferred to host account)</a:t>
            </a:r>
            <a:b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Interactive calendar view displays payout dates as events, allowing hosts to click for details about specific payments.</a:t>
            </a:r>
            <a:b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Notification preferences allow hosts to opt-in for email/SMS alerts for payment status changes, with resolution instructions for failed payout attempts.</a:t>
            </a:r>
            <a:b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Payment method display shows the last 4 digits of the bank account or payment method where funds will be sent, with link to update if needed. </a:t>
            </a:r>
            <a:b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611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For "Confirmed" payouts, a confirmation number or transaction ID are also included.</a:t>
            </a:r>
            <a:endParaRPr b="1"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